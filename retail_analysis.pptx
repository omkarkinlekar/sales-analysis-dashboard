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C8CDD8"/>
                </a:solidFill>
                <a:latin typeface="Arial"/>
              </a:defRPr>
            </a:pPr>
            <a:r>
              <a:rPr sz="1000" b="0" i="0" u="none" strike="noStrike">
                <a:solidFill>
                  <a:srgbClr val="C8CDD8"/>
                </a:solidFill>
                <a:latin typeface="Arial"/>
              </a:rPr>
              <a:t>Annual Revenue (₹)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(₹)</c:v>
                </c:pt>
              </c:strCache>
            </c:strRef>
          </c:tx>
          <c:spPr>
            <a:solidFill>
              <a:srgbClr val="A0A0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0A0A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5C1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8C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C4A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0808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2011 (partial)</c:v>
                  </c:pt>
                  <c:pt idx="1">
                    <c:v>2012</c:v>
                  </c:pt>
                  <c:pt idx="2">
                    <c:v>2013</c:v>
                  </c:pt>
                  <c:pt idx="3">
                    <c:v>2014</c:v>
                  </c:pt>
                  <c:pt idx="4">
                    <c:v>2015 (partial)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1340013</c:v>
                </c:pt>
                <c:pt idx="1">
                  <c:v>2115542</c:v>
                </c:pt>
                <c:pt idx="2">
                  <c:v>2137140</c:v>
                </c:pt>
                <c:pt idx="3">
                  <c:v>2094508</c:v>
                </c:pt>
                <c:pt idx="4">
                  <c:v>435175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5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152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C8CDD8"/>
                </a:solidFill>
                <a:latin typeface="Arial"/>
              </a:defRPr>
            </a:pPr>
            <a:r>
              <a:rPr sz="1000" b="0" i="0" u="none" strike="noStrike">
                <a:solidFill>
                  <a:srgbClr val="C8CDD8"/>
                </a:solidFill>
                <a:latin typeface="Arial"/>
              </a:rPr>
              <a:t>Revenue by Segment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5C1A"/>
              </a:solidFill>
              <a:effectLst/>
            </c:spPr>
          </c:dPt>
          <c:dPt>
            <c:idx val="1"/>
            <c:bubble3D val="0"/>
            <c:spPr>
              <a:solidFill>
                <a:srgbClr val="00C4A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P0 Premium</c:v>
                </c:pt>
                <c:pt idx="1">
                  <c:v>P2 Standard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6498293</c:v>
                </c:pt>
                <c:pt idx="1">
                  <c:v>1624085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8892A4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D152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C8CDD8"/>
                </a:solidFill>
                <a:latin typeface="Arial"/>
              </a:defRPr>
            </a:pPr>
            <a:r>
              <a:rPr sz="1000" b="0" i="0" u="none" strike="noStrike">
                <a:solidFill>
                  <a:srgbClr val="C8CDD8"/>
                </a:solidFill>
                <a:latin typeface="Arial"/>
              </a:rPr>
              <a:t>Purchase Frequency Distribution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8080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0808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8C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5C1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8C4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C4A7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1–10 buys</c:v>
                  </c:pt>
                  <c:pt idx="1">
                    <c:v>11–15</c:v>
                  </c:pt>
                  <c:pt idx="2">
                    <c:v>16–20</c:v>
                  </c:pt>
                  <c:pt idx="3">
                    <c:v>21–25</c:v>
                  </c:pt>
                  <c:pt idx="4">
                    <c:v>26+ buys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467</c:v>
                </c:pt>
                <c:pt idx="1">
                  <c:v>1685</c:v>
                </c:pt>
                <c:pt idx="2">
                  <c:v>2471</c:v>
                </c:pt>
                <c:pt idx="3">
                  <c:v>1700</c:v>
                </c:pt>
                <c:pt idx="4">
                  <c:v>561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5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1520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C8CDD8"/>
                </a:solidFill>
                <a:latin typeface="Arial"/>
              </a:defRPr>
            </a:pPr>
            <a:r>
              <a:rPr sz="1000" b="0" i="0" u="none" strike="noStrike">
                <a:solidFill>
                  <a:srgbClr val="C8CDD8"/>
                </a:solidFill>
                <a:latin typeface="Arial"/>
              </a:rPr>
              <a:t>Campaign Response Rate by Year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Response Rate (%)</c:v>
                </c:pt>
              </c:strCache>
            </c:strRef>
          </c:tx>
          <c:spPr>
            <a:solidFill>
              <a:srgbClr val="00C4A7"/>
            </a:solidFill>
            <a:ln w="38100" cap="flat">
              <a:solidFill>
                <a:srgbClr val="00C4A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C4A7"/>
              </a:solidFill>
              <a:ln w="9525" cap="flat">
                <a:solidFill>
                  <a:srgbClr val="00C4A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2011</c:v>
                  </c:pt>
                  <c:pt idx="1">
                    <c:v>2012</c:v>
                  </c:pt>
                  <c:pt idx="2">
                    <c:v>2013</c:v>
                  </c:pt>
                  <c:pt idx="3">
                    <c:v>2014</c:v>
                  </c:pt>
                  <c:pt idx="4">
                    <c:v>2015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9.84</c:v>
                </c:pt>
                <c:pt idx="1">
                  <c:v>10.13</c:v>
                </c:pt>
                <c:pt idx="2">
                  <c:v>11.86</c:v>
                </c:pt>
                <c:pt idx="3">
                  <c:v>12.55</c:v>
                </c:pt>
                <c:pt idx="4">
                  <c:v>8.51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5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1520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C8CDD8"/>
                </a:solidFill>
                <a:latin typeface="Arial"/>
              </a:defRPr>
            </a:pPr>
            <a:r>
              <a:rPr sz="1000" b="0" i="0" u="none" strike="noStrike">
                <a:solidFill>
                  <a:srgbClr val="C8CDD8"/>
                </a:solidFill>
                <a:latin typeface="Arial"/>
              </a:rPr>
              <a:t>Customer Acquisition by First Purchase Year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Customers</c:v>
                </c:pt>
              </c:strCache>
            </c:strRef>
          </c:tx>
          <c:spPr>
            <a:solidFill>
              <a:srgbClr val="FF5C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5C1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B8CE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0606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2011</c:v>
                  </c:pt>
                  <c:pt idx="1">
                    <c:v>2012</c:v>
                  </c:pt>
                  <c:pt idx="2">
                    <c:v>2013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6498</c:v>
                </c:pt>
                <c:pt idx="1">
                  <c:v>374</c:v>
                </c:pt>
                <c:pt idx="2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5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1520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C8CDD8"/>
                </a:solidFill>
                <a:latin typeface="Arial"/>
              </a:defRPr>
            </a:pPr>
            <a:r>
              <a:rPr sz="1000" b="0" i="0" u="none" strike="noStrike">
                <a:solidFill>
                  <a:srgbClr val="C8CDD8"/>
                </a:solidFill>
                <a:latin typeface="Arial"/>
              </a:rPr>
              <a:t>Revenue Distribution by Segment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5C1A"/>
              </a:solidFill>
              <a:effectLst/>
            </c:spPr>
          </c:dPt>
          <c:dPt>
            <c:idx val="1"/>
            <c:bubble3D val="0"/>
            <c:spPr>
              <a:solidFill>
                <a:srgbClr val="00C4A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P0 Premium</c:v>
                </c:pt>
                <c:pt idx="1">
                  <c:v>P2 Standard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6498293</c:v>
                </c:pt>
                <c:pt idx="1">
                  <c:v>1624085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8892A4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D1520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850" b="0" i="0" u="none" strike="noStrike">
                <a:solidFill>
                  <a:srgbClr val="C8CDD8"/>
                </a:solidFill>
                <a:latin typeface="Arial"/>
              </a:defRPr>
            </a:pPr>
            <a:r>
              <a:rPr sz="850" b="0" i="0" u="none" strike="noStrike">
                <a:solidFill>
                  <a:srgbClr val="C8CDD8"/>
                </a:solidFill>
                <a:latin typeface="Arial"/>
              </a:rPr>
              <a:t>Customer Monetary Value Distribution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8080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0808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8C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5C1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C4A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B8CE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&lt;₹500</c:v>
                  </c:pt>
                  <c:pt idx="1">
                    <c:v>₹500-1k</c:v>
                  </c:pt>
                  <c:pt idx="2">
                    <c:v>₹1k-1.5k</c:v>
                  </c:pt>
                  <c:pt idx="3">
                    <c:v>₹1.5k-2k</c:v>
                  </c:pt>
                  <c:pt idx="4">
                    <c:v>₹2k+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604</c:v>
                </c:pt>
                <c:pt idx="1">
                  <c:v>1761</c:v>
                </c:pt>
                <c:pt idx="2">
                  <c:v>2688</c:v>
                </c:pt>
                <c:pt idx="3">
                  <c:v>1635</c:v>
                </c:pt>
                <c:pt idx="4">
                  <c:v>196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5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152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FF5C1A"/>
          </a:solidFill>
          <a:ln w="12700">
            <a:solidFill>
              <a:srgbClr val="FF5C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2926080"/>
            <a:ext cx="3200400" cy="3200400"/>
          </a:xfrm>
          <a:prstGeom prst="ellipse">
            <a:avLst/>
          </a:prstGeom>
          <a:solidFill>
            <a:srgbClr val="FF8C4A">
              <a:alpha val="30000"/>
            </a:srgbClr>
          </a:solidFill>
          <a:ln w="12700">
            <a:solidFill>
              <a:srgbClr val="FF8C4A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1371600"/>
            <a:ext cx="2286000" cy="2286000"/>
          </a:xfrm>
          <a:prstGeom prst="ellipse">
            <a:avLst/>
          </a:prstGeom>
          <a:solidFill>
            <a:srgbClr val="FF8C4A">
              <a:alpha val="45000"/>
            </a:srgbClr>
          </a:solidFill>
          <a:ln w="12700">
            <a:solidFill>
              <a:srgbClr val="FF8C4A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743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0" y="100584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Data Analysis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0" y="164592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Reporting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57600" y="22860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Retail Chain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657600" y="2834640"/>
            <a:ext cx="365760" cy="36576"/>
          </a:xfrm>
          <a:prstGeom prst="rect">
            <a:avLst/>
          </a:prstGeom>
          <a:solidFill>
            <a:srgbClr val="FF5C1A"/>
          </a:solidFill>
          <a:ln w="12700">
            <a:solidFill>
              <a:srgbClr val="FF5C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92608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 ·  Internship Studio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0" y="3246120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SQL  ·  Excel  ·  Pandas  ·  Matplotlib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0" y="3931920"/>
            <a:ext cx="1207008" cy="292608"/>
          </a:xfrm>
          <a:prstGeom prst="rect">
            <a:avLst/>
          </a:prstGeom>
          <a:solidFill>
            <a:srgbClr val="1A2238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0" y="3931920"/>
            <a:ext cx="1207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124,969 Transactions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956048" y="3931920"/>
            <a:ext cx="1207008" cy="292608"/>
          </a:xfrm>
          <a:prstGeom prst="rect">
            <a:avLst/>
          </a:prstGeom>
          <a:solidFill>
            <a:srgbClr val="1A2238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56048" y="3931920"/>
            <a:ext cx="1207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6,884 Customers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254496" y="3931920"/>
            <a:ext cx="1207008" cy="292608"/>
          </a:xfrm>
          <a:prstGeom prst="rect">
            <a:avLst/>
          </a:prstGeom>
          <a:solidFill>
            <a:srgbClr val="1A2238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54496" y="3931920"/>
            <a:ext cx="1207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2011–2015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7552944" y="3931920"/>
            <a:ext cx="1207008" cy="292608"/>
          </a:xfrm>
          <a:prstGeom prst="rect">
            <a:avLst/>
          </a:prstGeom>
          <a:solidFill>
            <a:srgbClr val="1A2238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552944" y="3931920"/>
            <a:ext cx="1207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₹8.12M Revenue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0" y="4846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www.internshipstudio.com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5C1A"/>
          </a:solidFill>
          <a:ln w="12700">
            <a:solidFill>
              <a:srgbClr val="FF5C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371600" cy="256032"/>
          </a:xfrm>
          <a:prstGeom prst="rect">
            <a:avLst>
              <a:gd name="adj" fmla="val 14286"/>
            </a:avLst>
          </a:prstGeom>
          <a:solidFill>
            <a:srgbClr val="FF5C1A"/>
          </a:solidFill>
          <a:ln w="12700">
            <a:solidFill>
              <a:srgbClr val="FF5C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OVERVIEW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 &amp; Key Metrics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retail chain analysis across 4 structured phases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2633472" cy="1078992"/>
          </a:xfrm>
          <a:prstGeom prst="rect">
            <a:avLst/>
          </a:prstGeom>
          <a:solidFill>
            <a:srgbClr val="1A2238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81328"/>
            <a:ext cx="2633472" cy="36576"/>
          </a:xfrm>
          <a:prstGeom prst="rect">
            <a:avLst/>
          </a:prstGeom>
          <a:solidFill>
            <a:srgbClr val="FF5C1A"/>
          </a:solidFill>
          <a:ln w="12700">
            <a:solidFill>
              <a:srgbClr val="FF5C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591056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1773936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₹8.12M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94360" y="2231136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2011–2015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73552" y="1481328"/>
            <a:ext cx="2633472" cy="1078992"/>
          </a:xfrm>
          <a:prstGeom prst="rect">
            <a:avLst/>
          </a:prstGeom>
          <a:solidFill>
            <a:srgbClr val="1A2238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73552" y="1481328"/>
            <a:ext cx="2633472" cy="36576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0712" y="1591056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410712" y="1773936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124,969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410712" y="2231136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repeat customers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089904" y="1481328"/>
            <a:ext cx="2633472" cy="1078992"/>
          </a:xfrm>
          <a:prstGeom prst="rect">
            <a:avLst/>
          </a:prstGeom>
          <a:solidFill>
            <a:srgbClr val="1A2238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9904" y="1481328"/>
            <a:ext cx="2633472" cy="36576"/>
          </a:xfrm>
          <a:prstGeom prst="rect">
            <a:avLst/>
          </a:prstGeom>
          <a:solidFill>
            <a:srgbClr val="FF8C4A"/>
          </a:solidFill>
          <a:ln w="12700">
            <a:solidFill>
              <a:srgbClr val="FF8C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27064" y="1591056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227064" y="1773936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6,884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227064" y="2231136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P0: 4,423 · P2: 2,461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2670048"/>
            <a:ext cx="2633472" cy="1078992"/>
          </a:xfrm>
          <a:prstGeom prst="rect">
            <a:avLst/>
          </a:prstGeom>
          <a:solidFill>
            <a:srgbClr val="1A2238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2670048"/>
            <a:ext cx="2633472" cy="36576"/>
          </a:xfrm>
          <a:prstGeom prst="rect">
            <a:avLst/>
          </a:prstGeom>
          <a:solidFill>
            <a:srgbClr val="9B8CE8"/>
          </a:solidFill>
          <a:ln w="12700">
            <a:solidFill>
              <a:srgbClr val="9B8C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2779776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BASKET SIZE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94360" y="2962656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₹65.00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94360" y="3419856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 ± ₹22.9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73552" y="2670048"/>
            <a:ext cx="2633472" cy="1078992"/>
          </a:xfrm>
          <a:prstGeom prst="rect">
            <a:avLst/>
          </a:prstGeom>
          <a:solidFill>
            <a:srgbClr val="1A2238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73552" y="2670048"/>
            <a:ext cx="2633472" cy="36576"/>
          </a:xfrm>
          <a:prstGeom prst="rect">
            <a:avLst/>
          </a:prstGeom>
          <a:solidFill>
            <a:srgbClr val="FF5C1A"/>
          </a:solidFill>
          <a:ln w="12700">
            <a:solidFill>
              <a:srgbClr val="FF5C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10712" y="2779776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RATE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410712" y="2962656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11.1%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3410712" y="3419856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12.6% in 2014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089904" y="2670048"/>
            <a:ext cx="2633472" cy="1078992"/>
          </a:xfrm>
          <a:prstGeom prst="rect">
            <a:avLst/>
          </a:prstGeom>
          <a:solidFill>
            <a:srgbClr val="1A2238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89904" y="2670048"/>
            <a:ext cx="2633472" cy="36576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27064" y="2779776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FREQUENCY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227064" y="2962656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18.2x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6227064" y="3419856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 per customer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7200" y="3840480"/>
            <a:ext cx="1920240" cy="914400"/>
          </a:xfrm>
          <a:prstGeom prst="rect">
            <a:avLst/>
          </a:prstGeom>
          <a:solidFill>
            <a:srgbClr val="1A2238"/>
          </a:solidFill>
          <a:ln w="12700">
            <a:solidFill>
              <a:srgbClr val="FF5C1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8404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DB Setup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304288" y="416052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2A4"/>
                </a:solidFill>
              </a:rPr>
              <a:t>›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2633472" y="3840480"/>
            <a:ext cx="1920240" cy="914400"/>
          </a:xfrm>
          <a:prstGeom prst="rect">
            <a:avLst/>
          </a:prstGeom>
          <a:solidFill>
            <a:srgbClr val="1A22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33472" y="38404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Preparation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480560" y="416052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2A4"/>
                </a:solidFill>
              </a:rPr>
              <a:t>›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4809744" y="3840480"/>
            <a:ext cx="1920240" cy="914400"/>
          </a:xfrm>
          <a:prstGeom prst="rect">
            <a:avLst/>
          </a:prstGeom>
          <a:solidFill>
            <a:srgbClr val="1A22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9744" y="38404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656832" y="416052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2A4"/>
                </a:solidFill>
              </a:rPr>
              <a:t>›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6986016" y="3840480"/>
            <a:ext cx="1920240" cy="914400"/>
          </a:xfrm>
          <a:prstGeom prst="rect">
            <a:avLst/>
          </a:prstGeom>
          <a:solidFill>
            <a:srgbClr val="1A22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86016" y="38404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Findings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5C1A"/>
          </a:solidFill>
          <a:ln w="12700">
            <a:solidFill>
              <a:srgbClr val="FF5C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371600" cy="256032"/>
          </a:xfrm>
          <a:prstGeom prst="rect">
            <a:avLst>
              <a:gd name="adj" fmla="val 14286"/>
            </a:avLst>
          </a:prstGeom>
          <a:solidFill>
            <a:srgbClr val="FF5C1A"/>
          </a:solidFill>
          <a:ln w="12700">
            <a:solidFill>
              <a:srgbClr val="FF5C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01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Source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dataset structure before database setup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4023360" cy="3383280"/>
          </a:xfrm>
          <a:prstGeom prst="rect">
            <a:avLst/>
          </a:prstGeom>
          <a:solidFill>
            <a:srgbClr val="1A22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002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MAINDATA.CSV  —  Transaction Records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82880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124,969 rows  ·  6 columns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94360" y="2103120"/>
            <a:ext cx="3749040" cy="347472"/>
          </a:xfrm>
          <a:prstGeom prst="rect">
            <a:avLst/>
          </a:prstGeom>
          <a:solidFill>
            <a:srgbClr val="151E30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103120"/>
            <a:ext cx="54864" cy="347472"/>
          </a:xfrm>
          <a:prstGeom prst="rect">
            <a:avLst/>
          </a:prstGeom>
          <a:solidFill>
            <a:srgbClr val="FF5C1A"/>
          </a:solidFill>
          <a:ln w="12700">
            <a:solidFill>
              <a:srgbClr val="FF5C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1305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customer_id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920240" y="21305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4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697480" y="21305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 identifier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94360" y="2505456"/>
            <a:ext cx="374904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2505456"/>
            <a:ext cx="54864" cy="347472"/>
          </a:xfrm>
          <a:prstGeom prst="rect">
            <a:avLst/>
          </a:prstGeom>
          <a:solidFill>
            <a:srgbClr val="FF5C1A"/>
          </a:solidFill>
          <a:ln w="12700">
            <a:solidFill>
              <a:srgbClr val="FF5C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253288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trans_date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920240" y="253288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4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697480" y="25328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date (DD-MM-YYYY)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94360" y="2907792"/>
            <a:ext cx="3749040" cy="347472"/>
          </a:xfrm>
          <a:prstGeom prst="rect">
            <a:avLst/>
          </a:prstGeom>
          <a:solidFill>
            <a:srgbClr val="151E30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2907792"/>
            <a:ext cx="54864" cy="347472"/>
          </a:xfrm>
          <a:prstGeom prst="rect">
            <a:avLst/>
          </a:prstGeom>
          <a:solidFill>
            <a:srgbClr val="FF5C1A"/>
          </a:solidFill>
          <a:ln w="12700">
            <a:solidFill>
              <a:srgbClr val="FF5C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293522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920240" y="293522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4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TINYINT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697480" y="293522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response (0 or 1)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94360" y="3310128"/>
            <a:ext cx="374904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3310128"/>
            <a:ext cx="54864" cy="347472"/>
          </a:xfrm>
          <a:prstGeom prst="rect">
            <a:avLst/>
          </a:prstGeom>
          <a:solidFill>
            <a:srgbClr val="FF5C1A"/>
          </a:solidFill>
          <a:ln w="12700">
            <a:solidFill>
              <a:srgbClr val="FF5C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3337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920240" y="33375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4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697480" y="3337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number (1–12)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94360" y="3712464"/>
            <a:ext cx="3749040" cy="347472"/>
          </a:xfrm>
          <a:prstGeom prst="rect">
            <a:avLst/>
          </a:prstGeom>
          <a:solidFill>
            <a:srgbClr val="151E30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3712464"/>
            <a:ext cx="54864" cy="347472"/>
          </a:xfrm>
          <a:prstGeom prst="rect">
            <a:avLst/>
          </a:prstGeom>
          <a:solidFill>
            <a:srgbClr val="FF5C1A"/>
          </a:solidFill>
          <a:ln w="12700">
            <a:solidFill>
              <a:srgbClr val="FF5C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" y="373989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month_year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920240" y="373989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4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697480" y="373989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key e.g. 2013-02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94360" y="4114800"/>
            <a:ext cx="374904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" y="4114800"/>
            <a:ext cx="54864" cy="347472"/>
          </a:xfrm>
          <a:prstGeom prst="rect">
            <a:avLst/>
          </a:prstGeom>
          <a:solidFill>
            <a:srgbClr val="FF5C1A"/>
          </a:solidFill>
          <a:ln w="12700">
            <a:solidFill>
              <a:srgbClr val="FF5C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" y="414223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tran_amount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920240" y="414223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4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2697480" y="414223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value in ₹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663440" y="1481328"/>
            <a:ext cx="4023360" cy="3383280"/>
          </a:xfrm>
          <a:prstGeom prst="rect">
            <a:avLst/>
          </a:prstGeom>
          <a:solidFill>
            <a:srgbClr val="1A22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16002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ADDANLYS.CSV  —  Customer Segments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00600" y="182880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6,884 rows  ·  5 columns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800600" y="2103120"/>
            <a:ext cx="3749040" cy="347472"/>
          </a:xfrm>
          <a:prstGeom prst="rect">
            <a:avLst/>
          </a:prstGeom>
          <a:solidFill>
            <a:srgbClr val="151E30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00600" y="2103120"/>
            <a:ext cx="54864" cy="347472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19472" y="21305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customer_id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126480" y="21305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5C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6903720" y="21305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 — links to transactions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800600" y="2505456"/>
            <a:ext cx="374904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800600" y="2505456"/>
            <a:ext cx="54864" cy="347472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19472" y="253288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recency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126480" y="253288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5C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6903720" y="25328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most recent purchase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800600" y="2907792"/>
            <a:ext cx="3749040" cy="347472"/>
          </a:xfrm>
          <a:prstGeom prst="rect">
            <a:avLst/>
          </a:prstGeom>
          <a:solidFill>
            <a:srgbClr val="151E30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800600" y="2907792"/>
            <a:ext cx="54864" cy="347472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19472" y="293522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frequency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126480" y="293522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5C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903720" y="293522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number of purchases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4800600" y="3310128"/>
            <a:ext cx="374904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800600" y="3310128"/>
            <a:ext cx="54864" cy="347472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19472" y="3337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monetory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126480" y="33375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5C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903720" y="3337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 in ₹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4800600" y="3712464"/>
            <a:ext cx="3749040" cy="347472"/>
          </a:xfrm>
          <a:prstGeom prst="rect">
            <a:avLst/>
          </a:prstGeom>
          <a:solidFill>
            <a:srgbClr val="151E30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800600" y="3712464"/>
            <a:ext cx="54864" cy="347472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919472" y="373989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segment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6126480" y="373989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5C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6903720" y="373989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segment: P0 (Premium) / P2 (Standard)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5C1A"/>
          </a:solidFill>
          <a:ln w="12700">
            <a:solidFill>
              <a:srgbClr val="FF5C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371600" cy="256032"/>
          </a:xfrm>
          <a:prstGeom prst="rect">
            <a:avLst>
              <a:gd name="adj" fmla="val 14286"/>
            </a:avLst>
          </a:prstGeom>
          <a:solidFill>
            <a:srgbClr val="FF5C1A"/>
          </a:solidFill>
          <a:ln w="12700">
            <a:solidFill>
              <a:srgbClr val="FF5C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01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 Schema &amp; DDL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and creating the relational database tables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4206240" cy="3383280"/>
          </a:xfrm>
          <a:prstGeom prst="rect">
            <a:avLst/>
          </a:prstGeom>
          <a:solidFill>
            <a:srgbClr val="080C12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72768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Transactions table
</a:t>
            </a:r>
            <a:pPr indent="0" marL="0">
              <a:buNone/>
            </a:pPr>
            <a:r>
              <a:rPr lang="en-US" sz="78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transactions (
</a:t>
            </a:r>
            <a:pPr indent="0" marL="0">
              <a:buNone/>
            </a:pPr>
            <a:r>
              <a:rPr lang="en-US" sz="78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customer_id  </a:t>
            </a:r>
            <a:pPr indent="0" marL="0">
              <a:buNone/>
            </a:pPr>
            <a:r>
              <a:rPr lang="en-US" sz="78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pPr indent="0" marL="0">
              <a:buNone/>
            </a:pPr>
            <a:r>
              <a:rPr lang="en-US" sz="78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(10)  NOT NULL,
</a:t>
            </a:r>
            <a:pPr indent="0" marL="0">
              <a:buNone/>
            </a:pPr>
            <a:r>
              <a:rPr lang="en-US" sz="78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trans_date   </a:t>
            </a:r>
            <a:pPr indent="0" marL="0">
              <a:buNone/>
            </a:pPr>
            <a:r>
              <a:rPr lang="en-US" sz="78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pPr indent="0" marL="0">
              <a:buNone/>
            </a:pPr>
            <a:r>
              <a:rPr lang="en-US" sz="78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NOT NULL,
</a:t>
            </a:r>
            <a:pPr indent="0" marL="0">
              <a:buNone/>
            </a:pPr>
            <a:r>
              <a:rPr lang="en-US" sz="78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response     </a:t>
            </a:r>
            <a:pPr indent="0" marL="0">
              <a:buNone/>
            </a:pPr>
            <a:r>
              <a:rPr lang="en-US" sz="78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TINYINT</a:t>
            </a:r>
            <a:pPr indent="0" marL="0">
              <a:buNone/>
            </a:pPr>
            <a:r>
              <a:rPr lang="en-US" sz="78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(1)   DEFAULT 0,
</a:t>
            </a:r>
            <a:pPr indent="0" marL="0">
              <a:buNone/>
            </a:pPr>
            <a:r>
              <a:rPr lang="en-US" sz="78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month        </a:t>
            </a:r>
            <a:pPr indent="0" marL="0">
              <a:buNone/>
            </a:pPr>
            <a:r>
              <a:rPr lang="en-US" sz="78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78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buNone/>
            </a:pPr>
            <a:r>
              <a:rPr lang="en-US" sz="78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month_year   </a:t>
            </a:r>
            <a:pPr indent="0" marL="0">
              <a:buNone/>
            </a:pPr>
            <a:r>
              <a:rPr lang="en-US" sz="78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pPr indent="0" marL="0">
              <a:buNone/>
            </a:pPr>
            <a:r>
              <a:rPr lang="en-US" sz="78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(7),
</a:t>
            </a:r>
            <a:pPr indent="0" marL="0">
              <a:buNone/>
            </a:pPr>
            <a:r>
              <a:rPr lang="en-US" sz="78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tran_amount  </a:t>
            </a:r>
            <a:pPr indent="0" marL="0">
              <a:buNone/>
            </a:pPr>
            <a:r>
              <a:rPr lang="en-US" sz="78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78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NOT NULL,
</a:t>
            </a:r>
            <a:pPr indent="0" marL="0">
              <a:buNone/>
            </a:pPr>
            <a:r>
              <a:rPr lang="en-US" sz="78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INDEX </a:t>
            </a:r>
            <a:pPr indent="0" marL="0">
              <a:buNone/>
            </a:pPr>
            <a:r>
              <a:rPr lang="en-US" sz="78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idx_customer (customer_id),
</a:t>
            </a:r>
            <a:pPr indent="0" marL="0">
              <a:buNone/>
            </a:pPr>
            <a:r>
              <a:rPr lang="en-US" sz="78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INDEX </a:t>
            </a:r>
            <a:pPr indent="0" marL="0">
              <a:buNone/>
            </a:pPr>
            <a:r>
              <a:rPr lang="en-US" sz="78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idx_date (trans_date)
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pPr indent="0" marL="0">
              <a:buNone/>
            </a:pPr>
            <a:r>
              <a:rPr lang="en-US" sz="78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 DATA INFILE </a:t>
            </a:r>
            <a:pPr indent="0" marL="0">
              <a:buNone/>
            </a:pPr>
            <a:r>
              <a:rPr lang="en-US" sz="78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'MainData.csv'
</a:t>
            </a:r>
            <a:pPr indent="0" marL="0">
              <a:buNone/>
            </a:pPr>
            <a:r>
              <a:rPr lang="en-US" sz="78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INTO TABLE </a:t>
            </a:r>
            <a:pPr indent="0" marL="0">
              <a:buNone/>
            </a:pPr>
            <a:r>
              <a:rPr lang="en-US" sz="78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transactions
</a:t>
            </a:r>
            <a:pPr indent="0" marL="0">
              <a:buNone/>
            </a:pPr>
            <a:r>
              <a:rPr lang="en-US" sz="78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FIELDS TERMINATED BY </a:t>
            </a:r>
            <a:pPr indent="0" marL="0">
              <a:buNone/>
            </a:pPr>
            <a:r>
              <a:rPr lang="en-US" sz="78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','  </a:t>
            </a:r>
            <a:pPr indent="0" marL="0">
              <a:buNone/>
            </a:pPr>
            <a:r>
              <a:rPr lang="en-US" sz="78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IGNORE </a:t>
            </a:r>
            <a:pPr indent="0" marL="0">
              <a:buNone/>
            </a:pPr>
            <a:r>
              <a:rPr lang="en-US" sz="78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ROWS;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4846320" y="1481328"/>
            <a:ext cx="3840480" cy="3383280"/>
          </a:xfrm>
          <a:prstGeom prst="rect">
            <a:avLst/>
          </a:prstGeom>
          <a:solidFill>
            <a:srgbClr val="080C12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572768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Customer segments table
</a:t>
            </a:r>
            <a:pPr indent="0" marL="0">
              <a:buNone/>
            </a:pPr>
            <a:r>
              <a:rPr lang="en-US" sz="78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customer_segments (
</a:t>
            </a:r>
            <a:pPr indent="0" marL="0">
              <a:buNone/>
            </a:pPr>
            <a:r>
              <a:rPr lang="en-US" sz="78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customer_id  </a:t>
            </a:r>
            <a:pPr indent="0" marL="0">
              <a:buNone/>
            </a:pPr>
            <a:r>
              <a:rPr lang="en-US" sz="78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pPr indent="0" marL="0">
              <a:buNone/>
            </a:pPr>
            <a:r>
              <a:rPr lang="en-US" sz="78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(10) </a:t>
            </a:r>
            <a:pPr indent="0" marL="0">
              <a:buNone/>
            </a:pPr>
            <a:r>
              <a:rPr lang="en-US" sz="78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 KEY</a:t>
            </a:r>
            <a:pPr indent="0" marL="0">
              <a:buNone/>
            </a:pPr>
            <a:r>
              <a:rPr lang="en-US" sz="78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buNone/>
            </a:pPr>
            <a:r>
              <a:rPr lang="en-US" sz="78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recency      </a:t>
            </a:r>
            <a:pPr indent="0" marL="0">
              <a:buNone/>
            </a:pPr>
            <a:r>
              <a:rPr lang="en-US" sz="78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pPr indent="0" marL="0">
              <a:buNone/>
            </a:pPr>
            <a:r>
              <a:rPr lang="en-US" sz="78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buNone/>
            </a:pPr>
            <a:r>
              <a:rPr lang="en-US" sz="78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frequency    </a:t>
            </a:r>
            <a:pPr indent="0" marL="0">
              <a:buNone/>
            </a:pPr>
            <a:r>
              <a:rPr lang="en-US" sz="78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78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buNone/>
            </a:pPr>
            <a:r>
              <a:rPr lang="en-US" sz="78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monetory     </a:t>
            </a:r>
            <a:pPr indent="0" marL="0">
              <a:buNone/>
            </a:pPr>
            <a:r>
              <a:rPr lang="en-US" sz="78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78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buNone/>
            </a:pPr>
            <a:r>
              <a:rPr lang="en-US" sz="78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segment      </a:t>
            </a:r>
            <a:pPr indent="0" marL="0">
              <a:buNone/>
            </a:pPr>
            <a:r>
              <a:rPr lang="en-US" sz="78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pPr indent="0" marL="0">
              <a:buNone/>
            </a:pPr>
            <a:r>
              <a:rPr lang="en-US" sz="78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(5)
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pPr indent="0" marL="0">
              <a:buNone/>
            </a:pPr>
            <a:r>
              <a:rPr lang="en-US" sz="78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Foreign key relationship
</a:t>
            </a:r>
            <a:pPr indent="0" marL="0">
              <a:buNone/>
            </a:pPr>
            <a:r>
              <a:rPr lang="en-US" sz="78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 </a:t>
            </a:r>
            <a:pPr indent="0" marL="0">
              <a:buNone/>
            </a:pPr>
            <a:r>
              <a:rPr lang="en-US" sz="78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transactions
</a:t>
            </a:r>
            <a:pPr indent="0" marL="0">
              <a:buNone/>
            </a:pPr>
            <a:r>
              <a:rPr lang="en-US" sz="78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CONSTRAINT </a:t>
            </a:r>
            <a:pPr indent="0" marL="0">
              <a:buNone/>
            </a:pPr>
            <a:r>
              <a:rPr lang="en-US" sz="78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fk_customer
</a:t>
            </a:r>
            <a:pPr indent="0" marL="0">
              <a:buNone/>
            </a:pPr>
            <a:r>
              <a:rPr lang="en-US" sz="78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FOREIGN KEY </a:t>
            </a:r>
            <a:pPr indent="0" marL="0">
              <a:buNone/>
            </a:pPr>
            <a:r>
              <a:rPr lang="en-US" sz="78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(customer_id)
</a:t>
            </a:r>
            <a:pPr indent="0" marL="0">
              <a:buNone/>
            </a:pPr>
            <a:r>
              <a:rPr lang="en-US" sz="78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REFERENCES </a:t>
            </a:r>
            <a:pPr indent="0" marL="0">
              <a:buNone/>
            </a:pPr>
            <a:r>
              <a:rPr lang="en-US" sz="78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customer_segments</a:t>
            </a:r>
            <a:pPr indent="0" marL="0">
              <a:buNone/>
            </a:pPr>
            <a:r>
              <a:rPr lang="en-US" sz="78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(customer_id);
</a:t>
            </a:r>
            <a:pPr indent="0" marL="0">
              <a:buNone/>
            </a:pPr>
            <a:r>
              <a:rPr lang="en-US" sz="78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Verify
</a:t>
            </a:r>
            <a:pPr indent="0" marL="0">
              <a:buNone/>
            </a:pPr>
            <a:r>
              <a:rPr lang="en-US" sz="78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</a:t>
            </a:r>
            <a:pPr indent="0" marL="0">
              <a:buNone/>
            </a:pPr>
            <a:r>
              <a:rPr lang="en-US" sz="78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(*) </a:t>
            </a:r>
            <a:pPr indent="0" marL="0">
              <a:buNone/>
            </a:pPr>
            <a:r>
              <a:rPr lang="en-US" sz="78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78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transactions; </a:t>
            </a:r>
            <a:pPr indent="0" marL="0">
              <a:buNone/>
            </a:pPr>
            <a:r>
              <a:rPr lang="en-US" sz="78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-- 124,969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530352" y="148132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919472" y="148132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customer_segments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5C1A"/>
          </a:solidFill>
          <a:ln w="12700">
            <a:solidFill>
              <a:srgbClr val="FF5C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371600" cy="256032"/>
          </a:xfrm>
          <a:prstGeom prst="rect">
            <a:avLst>
              <a:gd name="adj" fmla="val 14286"/>
            </a:avLst>
          </a:prstGeom>
          <a:solidFill>
            <a:srgbClr val="FF5C1A"/>
          </a:solidFill>
          <a:ln w="12700">
            <a:solidFill>
              <a:srgbClr val="FF5C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02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Quality Checks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Python (pandas) to validate, clean and prepare the dataset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4754880" cy="3401568"/>
          </a:xfrm>
          <a:prstGeom prst="rect">
            <a:avLst/>
          </a:prstGeom>
          <a:solidFill>
            <a:srgbClr val="080C12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00200"/>
            <a:ext cx="4480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78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 </a:t>
            </a:r>
            <a:pPr indent="0" marL="0">
              <a:buNone/>
            </a:pPr>
            <a:r>
              <a:rPr lang="en-US" sz="78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pPr indent="0" marL="0">
              <a:buNone/>
            </a:pPr>
            <a:r>
              <a:rPr lang="en-US" sz="78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
</a:t>
            </a:r>
            <a:pPr indent="0" marL="0">
              <a:buNone/>
            </a:pPr>
            <a:r>
              <a:rPr lang="en-US" sz="78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</a:t>
            </a:r>
            <a:pPr indent="0" marL="0">
              <a:buNone/>
            </a:pPr>
            <a:r>
              <a:rPr lang="en-US" sz="78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pd.read_csv(</a:t>
            </a:r>
            <a:pPr indent="0" marL="0">
              <a:buNone/>
            </a:pPr>
            <a:r>
              <a:rPr lang="en-US" sz="78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'MainData.csv'</a:t>
            </a:r>
            <a:pPr indent="0" marL="0">
              <a:buNone/>
            </a:pPr>
            <a:r>
              <a:rPr lang="en-US" sz="78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78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 </a:t>
            </a:r>
            <a:pPr indent="0" marL="0">
              <a:buNone/>
            </a:pPr>
            <a:r>
              <a:rPr lang="en-US" sz="78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pd.read_csv(</a:t>
            </a:r>
            <a:pPr indent="0" marL="0">
              <a:buNone/>
            </a:pPr>
            <a:r>
              <a:rPr lang="en-US" sz="78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'AddAnlys.csv'</a:t>
            </a:r>
            <a:pPr indent="0" marL="0">
              <a:buNone/>
            </a:pPr>
            <a:r>
              <a:rPr lang="en-US" sz="78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78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Check missing values
</a:t>
            </a:r>
            <a:pPr indent="0" marL="0">
              <a:buNone/>
            </a:pPr>
            <a:r>
              <a:rPr lang="en-US" sz="78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78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(main.isnull().sum())
</a:t>
            </a:r>
            <a:pPr indent="0" marL="0">
              <a:buNone/>
            </a:pPr>
            <a:r>
              <a:rPr lang="en-US" sz="78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All zeros — dataset is complete!
</a:t>
            </a:r>
            <a:pPr indent="0" marL="0">
              <a:buNone/>
            </a:pPr>
            <a:r>
              <a:rPr lang="en-US" sz="78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Parse dates correctly
</a:t>
            </a:r>
            <a:pPr indent="0" marL="0">
              <a:buNone/>
            </a:pPr>
            <a:r>
              <a:rPr lang="en-US" sz="78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main[</a:t>
            </a:r>
            <a:pPr indent="0" marL="0">
              <a:buNone/>
            </a:pPr>
            <a:r>
              <a:rPr lang="en-US" sz="78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'trans_date'</a:t>
            </a:r>
            <a:pPr indent="0" marL="0">
              <a:buNone/>
            </a:pPr>
            <a:r>
              <a:rPr lang="en-US" sz="78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pd.to_datetime(
</a:t>
            </a:r>
            <a:pPr indent="0" marL="0">
              <a:buNone/>
            </a:pPr>
            <a:r>
              <a:rPr lang="en-US" sz="78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main[</a:t>
            </a:r>
            <a:pPr indent="0" marL="0">
              <a:buNone/>
            </a:pPr>
            <a:r>
              <a:rPr lang="en-US" sz="78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'trans_date'</a:t>
            </a:r>
            <a:pPr indent="0" marL="0">
              <a:buNone/>
            </a:pPr>
            <a:r>
              <a:rPr lang="en-US" sz="78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dayfirst=</a:t>
            </a:r>
            <a:pPr indent="0" marL="0">
              <a:buNone/>
            </a:pPr>
            <a:r>
              <a:rPr lang="en-US" sz="78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78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78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Detect outliers (IQR method)
</a:t>
            </a:r>
            <a:pPr indent="0" marL="0">
              <a:buNone/>
            </a:pPr>
            <a:r>
              <a:rPr lang="en-US" sz="78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 = main[</a:t>
            </a:r>
            <a:pPr indent="0" marL="0">
              <a:buNone/>
            </a:pPr>
            <a:r>
              <a:rPr lang="en-US" sz="78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'tran_amount'</a:t>
            </a:r>
            <a:pPr indent="0" marL="0">
              <a:buNone/>
            </a:pPr>
            <a:r>
              <a:rPr lang="en-US" sz="78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].quantile(</a:t>
            </a:r>
            <a:pPr indent="0" marL="0">
              <a:buNone/>
            </a:pPr>
            <a:r>
              <a:rPr lang="en-US" sz="78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0.25</a:t>
            </a:r>
            <a:pPr indent="0" marL="0">
              <a:buNone/>
            </a:pPr>
            <a:r>
              <a:rPr lang="en-US" sz="78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78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 = main[</a:t>
            </a:r>
            <a:pPr indent="0" marL="0">
              <a:buNone/>
            </a:pPr>
            <a:r>
              <a:rPr lang="en-US" sz="78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'tran_amount'</a:t>
            </a:r>
            <a:pPr indent="0" marL="0">
              <a:buNone/>
            </a:pPr>
            <a:r>
              <a:rPr lang="en-US" sz="78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].quantile(</a:t>
            </a:r>
            <a:pPr indent="0" marL="0">
              <a:buNone/>
            </a:pPr>
            <a:r>
              <a:rPr lang="en-US" sz="78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0.75</a:t>
            </a:r>
            <a:pPr indent="0" marL="0">
              <a:buNone/>
            </a:pPr>
            <a:r>
              <a:rPr lang="en-US" sz="78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78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IQR </a:t>
            </a:r>
            <a:pPr indent="0" marL="0">
              <a:buNone/>
            </a:pPr>
            <a:r>
              <a:rPr lang="en-US" sz="78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Q3 - Q1  </a:t>
            </a:r>
            <a:pPr indent="0" marL="0">
              <a:buNone/>
            </a:pPr>
            <a:r>
              <a:rPr lang="en-US" sz="78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= 36
</a:t>
            </a:r>
            <a:pPr indent="0" marL="0">
              <a:buNone/>
            </a:pPr>
            <a:r>
              <a:rPr lang="en-US" sz="78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lower = Q1 - 1.5*IQR  </a:t>
            </a:r>
            <a:pPr indent="0" marL="0">
              <a:buNone/>
            </a:pPr>
            <a:r>
              <a:rPr lang="en-US" sz="78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= 1
</a:t>
            </a:r>
            <a:pPr indent="0" marL="0">
              <a:buNone/>
            </a:pPr>
            <a:r>
              <a:rPr lang="en-US" sz="78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upper = Q3 + 1.5*IQR  </a:t>
            </a:r>
            <a:pPr indent="0" marL="0">
              <a:buNone/>
            </a:pPr>
            <a:r>
              <a:rPr lang="en-US" sz="78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= 137
</a:t>
            </a:r>
            <a:pPr indent="0" marL="0">
              <a:buNone/>
            </a:pPr>
            <a:r>
              <a:rPr lang="en-US" sz="78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Add calculated fields
</a:t>
            </a:r>
            <a:pPr indent="0" marL="0">
              <a:buNone/>
            </a:pPr>
            <a:r>
              <a:rPr lang="en-US" sz="78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main[</a:t>
            </a:r>
            <a:pPr indent="0" marL="0">
              <a:buNone/>
            </a:pPr>
            <a:r>
              <a:rPr lang="en-US" sz="78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'year'</a:t>
            </a:r>
            <a:pPr indent="0" marL="0">
              <a:buNone/>
            </a:pPr>
            <a:r>
              <a:rPr lang="en-US" sz="78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main[</a:t>
            </a:r>
            <a:pPr indent="0" marL="0">
              <a:buNone/>
            </a:pPr>
            <a:r>
              <a:rPr lang="en-US" sz="78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'trans_date'</a:t>
            </a:r>
            <a:pPr indent="0" marL="0">
              <a:buNone/>
            </a:pPr>
            <a:r>
              <a:rPr lang="en-US" sz="78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].dt.year
</a:t>
            </a:r>
            <a:pPr indent="0" marL="0">
              <a:buNone/>
            </a:pPr>
            <a:r>
              <a:rPr lang="en-US" sz="78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main[</a:t>
            </a:r>
            <a:pPr indent="0" marL="0">
              <a:buNone/>
            </a:pPr>
            <a:r>
              <a:rPr lang="en-US" sz="78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'quarter'</a:t>
            </a:r>
            <a:pPr indent="0" marL="0">
              <a:buNone/>
            </a:pPr>
            <a:r>
              <a:rPr lang="en-US" sz="78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main[</a:t>
            </a:r>
            <a:pPr indent="0" marL="0">
              <a:buNone/>
            </a:pPr>
            <a:r>
              <a:rPr lang="en-US" sz="78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'trans_date'</a:t>
            </a:r>
            <a:pPr indent="0" marL="0">
              <a:buNone/>
            </a:pPr>
            <a:r>
              <a:rPr lang="en-US" sz="78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].dt.quarter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5394960" y="1481328"/>
            <a:ext cx="3291840" cy="612648"/>
          </a:xfrm>
          <a:prstGeom prst="rect">
            <a:avLst/>
          </a:prstGeom>
          <a:solidFill>
            <a:srgbClr val="1A2238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94960" y="1481328"/>
            <a:ext cx="54864" cy="612648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68112" y="152704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79008" y="153619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Missing Values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779008" y="1746504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files are 100% complete. No null handling required.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394960" y="2157984"/>
            <a:ext cx="3291840" cy="612648"/>
          </a:xfrm>
          <a:prstGeom prst="rect">
            <a:avLst/>
          </a:prstGeom>
          <a:solidFill>
            <a:srgbClr val="1A2238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94960" y="2157984"/>
            <a:ext cx="54864" cy="612648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68112" y="220370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779008" y="221284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Duplicate Rows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779008" y="242316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duplicates found in either MainData or AddAnlys CSV.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394960" y="2834640"/>
            <a:ext cx="3291840" cy="612648"/>
          </a:xfrm>
          <a:prstGeom prst="rect">
            <a:avLst/>
          </a:prstGeom>
          <a:solidFill>
            <a:srgbClr val="1A2238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94960" y="2834640"/>
            <a:ext cx="54864" cy="612648"/>
          </a:xfrm>
          <a:prstGeom prst="rect">
            <a:avLst/>
          </a:prstGeom>
          <a:solidFill>
            <a:srgbClr val="FF5C1A"/>
          </a:solidFill>
          <a:ln w="12700">
            <a:solidFill>
              <a:srgbClr val="FF5C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68112" y="288036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779008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Extreme Outliers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779008" y="3099816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analysis: Q1=₹47, Q3=₹83, IQR=36. Bounds: ₹1–₹137. All values in range ₹10–₹105.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394960" y="3511296"/>
            <a:ext cx="3291840" cy="612648"/>
          </a:xfrm>
          <a:prstGeom prst="rect">
            <a:avLst/>
          </a:prstGeom>
          <a:solidFill>
            <a:srgbClr val="1A2238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394960" y="3511296"/>
            <a:ext cx="54864" cy="612648"/>
          </a:xfrm>
          <a:prstGeom prst="rect">
            <a:avLst/>
          </a:prstGeom>
          <a:solidFill>
            <a:srgbClr val="FF8C4A"/>
          </a:solidFill>
          <a:ln w="12700">
            <a:solidFill>
              <a:srgbClr val="FF8C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68112" y="355701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8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779008" y="356616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Dip Noted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779008" y="377647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consistently ~10% lower — explained by 28 days. Per-day figures are normal.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394960" y="4187952"/>
            <a:ext cx="3291840" cy="612648"/>
          </a:xfrm>
          <a:prstGeom prst="rect">
            <a:avLst/>
          </a:prstGeom>
          <a:solidFill>
            <a:srgbClr val="1A2238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394960" y="4187952"/>
            <a:ext cx="54864" cy="612648"/>
          </a:xfrm>
          <a:prstGeom prst="rect">
            <a:avLst/>
          </a:prstGeom>
          <a:solidFill>
            <a:srgbClr val="9B8CE8"/>
          </a:solidFill>
          <a:ln w="12700">
            <a:solidFill>
              <a:srgbClr val="9B8C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68112" y="423367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8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779008" y="4242816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Years at Edges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779008" y="445312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 starts May, 2015 ends March. Excluded from full-year comparisons.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5C1A"/>
          </a:solidFill>
          <a:ln w="12700">
            <a:solidFill>
              <a:srgbClr val="FF5C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371600" cy="256032"/>
          </a:xfrm>
          <a:prstGeom prst="rect">
            <a:avLst>
              <a:gd name="adj" fmla="val 14286"/>
            </a:avLst>
          </a:prstGeom>
          <a:solidFill>
            <a:srgbClr val="FF5C1A"/>
          </a:solidFill>
          <a:ln w="12700">
            <a:solidFill>
              <a:srgbClr val="FF5C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02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 Cleaning Queries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SQL queries used to validate and prepare data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4114800" cy="1755648"/>
          </a:xfrm>
          <a:prstGeom prst="rect">
            <a:avLst/>
          </a:prstGeom>
          <a:solidFill>
            <a:srgbClr val="1A22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81328"/>
            <a:ext cx="4114800" cy="256032"/>
          </a:xfrm>
          <a:prstGeom prst="rect">
            <a:avLst/>
          </a:prstGeom>
          <a:solidFill>
            <a:srgbClr val="151E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508760"/>
            <a:ext cx="3895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NULL values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4114800" cy="1188720"/>
          </a:xfrm>
          <a:prstGeom prst="rect">
            <a:avLst/>
          </a:prstGeom>
          <a:solidFill>
            <a:srgbClr val="080C12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773936"/>
            <a:ext cx="3913632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SUM(CASE WHEN customer_id IS NULL THEN 1 ELSE 0 END)  AS null_cust,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SUM(CASE WHEN tran_amount IS NULL THEN 1 ELSE 0 END)  AS null_amt,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SUM(CASE WHEN trans_date IS NULL THEN 1 ELSE 0 END)   AS null_date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transactions;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Result: 0 | 0 | 0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57200" y="2944368"/>
            <a:ext cx="4114800" cy="274320"/>
          </a:xfrm>
          <a:prstGeom prst="rect">
            <a:avLst/>
          </a:prstGeom>
          <a:solidFill>
            <a:srgbClr val="0A1A12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962656"/>
            <a:ext cx="38953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4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Result: All zeros — clean dataset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800600" y="1481328"/>
            <a:ext cx="4114800" cy="1755648"/>
          </a:xfrm>
          <a:prstGeom prst="rect">
            <a:avLst/>
          </a:prstGeom>
          <a:solidFill>
            <a:srgbClr val="1A22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1481328"/>
            <a:ext cx="4114800" cy="256032"/>
          </a:xfrm>
          <a:prstGeom prst="rect">
            <a:avLst/>
          </a:prstGeom>
          <a:solidFill>
            <a:srgbClr val="151E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0328" y="1508760"/>
            <a:ext cx="3895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duplicate transactions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800600" y="1737360"/>
            <a:ext cx="4114800" cy="1188720"/>
          </a:xfrm>
          <a:prstGeom prst="rect">
            <a:avLst/>
          </a:prstGeom>
          <a:solidFill>
            <a:srgbClr val="080C12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0328" y="1773936"/>
            <a:ext cx="3913632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customer_id, trans_date, tran_amount,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COUNT(*) AS cnt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transactions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customer_id, trans_date, tran_amount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COUNT(*) &gt; 1;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Result: 0 rows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800600" y="2944368"/>
            <a:ext cx="4114800" cy="274320"/>
          </a:xfrm>
          <a:prstGeom prst="rect">
            <a:avLst/>
          </a:prstGeom>
          <a:solidFill>
            <a:srgbClr val="0A1A12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0328" y="2962656"/>
            <a:ext cx="38953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4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Result: No duplicates found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57200" y="3328416"/>
            <a:ext cx="4114800" cy="1755648"/>
          </a:xfrm>
          <a:prstGeom prst="rect">
            <a:avLst/>
          </a:prstGeom>
          <a:solidFill>
            <a:srgbClr val="1A22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328416"/>
            <a:ext cx="4114800" cy="256032"/>
          </a:xfrm>
          <a:prstGeom prst="rect">
            <a:avLst/>
          </a:prstGeom>
          <a:solidFill>
            <a:srgbClr val="151E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355848"/>
            <a:ext cx="3895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outliers in transaction amount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3584448"/>
            <a:ext cx="4114800" cy="1188720"/>
          </a:xfrm>
          <a:prstGeom prst="rect">
            <a:avLst/>
          </a:prstGeom>
          <a:solidFill>
            <a:srgbClr val="080C12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621024"/>
            <a:ext cx="3913632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COUNT(*) AS outliers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transactions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tran_amount &lt; 1 OR tran_amount &gt; 137;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(IQR bounds: Q1=47, Q3=83, IQR=36)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Result: 0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57200" y="4791456"/>
            <a:ext cx="4114800" cy="274320"/>
          </a:xfrm>
          <a:prstGeom prst="rect">
            <a:avLst/>
          </a:prstGeom>
          <a:solidFill>
            <a:srgbClr val="0A1A12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4809744"/>
            <a:ext cx="38953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4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Result: 0 outliers beyond IQR bounds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800600" y="3328416"/>
            <a:ext cx="4114800" cy="1755648"/>
          </a:xfrm>
          <a:prstGeom prst="rect">
            <a:avLst/>
          </a:prstGeom>
          <a:solidFill>
            <a:srgbClr val="1A22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3328416"/>
            <a:ext cx="4114800" cy="256032"/>
          </a:xfrm>
          <a:prstGeom prst="rect">
            <a:avLst/>
          </a:prstGeom>
          <a:solidFill>
            <a:srgbClr val="151E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0328" y="3355848"/>
            <a:ext cx="3895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derived year/month columns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00600" y="3584448"/>
            <a:ext cx="4114800" cy="1188720"/>
          </a:xfrm>
          <a:prstGeom prst="rect">
            <a:avLst/>
          </a:prstGeom>
          <a:solidFill>
            <a:srgbClr val="080C12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0328" y="3621024"/>
            <a:ext cx="3913632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 transactions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 COLUMN year INT,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 COLUMN quarter INT;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transactions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year    = YEAR(trans_date),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quarter = QUARTER(trans_date);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800600" y="4791456"/>
            <a:ext cx="4114800" cy="274320"/>
          </a:xfrm>
          <a:prstGeom prst="rect">
            <a:avLst/>
          </a:prstGeom>
          <a:solidFill>
            <a:srgbClr val="0A1A12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0328" y="4809744"/>
            <a:ext cx="38953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4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124,969 rows updated successfully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5C1A"/>
          </a:solidFill>
          <a:ln w="12700">
            <a:solidFill>
              <a:srgbClr val="FF5C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371600" cy="256032"/>
          </a:xfrm>
          <a:prstGeom prst="rect">
            <a:avLst>
              <a:gd name="adj" fmla="val 14286"/>
            </a:avLst>
          </a:prstGeom>
          <a:solidFill>
            <a:srgbClr val="FF5C1A"/>
          </a:solidFill>
          <a:ln w="12700">
            <a:solidFill>
              <a:srgbClr val="FF5C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03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Sales Trend Analysis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and monthly transaction patterns across the dataset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481328"/>
          <a:ext cx="50292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931920"/>
            <a:ext cx="5029200" cy="932688"/>
          </a:xfrm>
          <a:prstGeom prst="rect">
            <a:avLst/>
          </a:prstGeom>
          <a:solidFill>
            <a:srgbClr val="080C12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4005072"/>
            <a:ext cx="47548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Annual revenue summary
</a:t>
            </a:r>
            <a:pPr indent="0" marL="0">
              <a:buNone/>
            </a:pPr>
            <a:r>
              <a:rPr lang="en-US" sz="7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
</a:t>
            </a:r>
            <a:pPr indent="0" marL="0">
              <a:buNone/>
            </a:pPr>
            <a:r>
              <a:rPr lang="en-US" sz="75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YEAR(trans_date)        </a:t>
            </a:r>
            <a:pPr indent="0" marL="0">
              <a:buNone/>
            </a:pPr>
            <a:r>
              <a:rPr lang="en-US" sz="7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pPr indent="0" marL="0">
              <a:buNone/>
            </a:pPr>
            <a:r>
              <a:rPr lang="en-US" sz="75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year,
</a:t>
            </a:r>
            <a:pPr indent="0" marL="0">
              <a:buNone/>
            </a:pPr>
            <a:r>
              <a:rPr lang="en-US" sz="7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</a:t>
            </a:r>
            <a:pPr indent="0" marL="0">
              <a:buNone/>
            </a:pPr>
            <a:r>
              <a:rPr lang="en-US" sz="75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(*)                  </a:t>
            </a:r>
            <a:pPr indent="0" marL="0">
              <a:buNone/>
            </a:pPr>
            <a:r>
              <a:rPr lang="en-US" sz="7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pPr indent="0" marL="0">
              <a:buNone/>
            </a:pPr>
            <a:r>
              <a:rPr lang="en-US" sz="75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transactions,
</a:t>
            </a:r>
            <a:pPr indent="0" marL="0">
              <a:buNone/>
            </a:pPr>
            <a:r>
              <a:rPr lang="en-US" sz="7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</a:t>
            </a:r>
            <a:pPr indent="0" marL="0">
              <a:buNone/>
            </a:pPr>
            <a:r>
              <a:rPr lang="en-US" sz="75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(tran_amount)        </a:t>
            </a:r>
            <a:pPr indent="0" marL="0">
              <a:buNone/>
            </a:pPr>
            <a:r>
              <a:rPr lang="en-US" sz="7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pPr indent="0" marL="0">
              <a:buNone/>
            </a:pPr>
            <a:r>
              <a:rPr lang="en-US" sz="75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total_revenue,
</a:t>
            </a:r>
            <a:pPr indent="0" marL="0">
              <a:buNone/>
            </a:pPr>
            <a:r>
              <a:rPr lang="en-US" sz="7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AVG</a:t>
            </a:r>
            <a:pPr indent="0" marL="0">
              <a:buNone/>
            </a:pPr>
            <a:r>
              <a:rPr lang="en-US" sz="75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(tran_amount)        </a:t>
            </a:r>
            <a:pPr indent="0" marL="0">
              <a:buNone/>
            </a:pPr>
            <a:r>
              <a:rPr lang="en-US" sz="7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pPr indent="0" marL="0">
              <a:buNone/>
            </a:pPr>
            <a:r>
              <a:rPr lang="en-US" sz="75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avg_basket,
</a:t>
            </a:r>
            <a:pPr indent="0" marL="0">
              <a:buNone/>
            </a:pPr>
            <a:r>
              <a:rPr lang="en-US" sz="7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AVG</a:t>
            </a:r>
            <a:pPr indent="0" marL="0">
              <a:buNone/>
            </a:pPr>
            <a:r>
              <a:rPr lang="en-US" sz="75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(response)*100       </a:t>
            </a:r>
            <a:pPr indent="0" marL="0">
              <a:buNone/>
            </a:pPr>
            <a:r>
              <a:rPr lang="en-US" sz="7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pPr indent="0" marL="0">
              <a:buNone/>
            </a:pPr>
            <a:r>
              <a:rPr lang="en-US" sz="75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response_rate
</a:t>
            </a:r>
            <a:pPr indent="0" marL="0">
              <a:buNone/>
            </a:pPr>
            <a:r>
              <a:rPr lang="en-US" sz="7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75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transactions
</a:t>
            </a:r>
            <a:pPr indent="0" marL="0">
              <a:buNone/>
            </a:pPr>
            <a:r>
              <a:rPr lang="en-US" sz="7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</a:t>
            </a:r>
            <a:pPr indent="0" marL="0">
              <a:buNone/>
            </a:pPr>
            <a:r>
              <a:rPr lang="en-US" sz="75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YEAR(trans_date)
</a:t>
            </a:r>
            <a:pPr indent="0" marL="0">
              <a:buNone/>
            </a:pPr>
            <a:r>
              <a:rPr lang="en-US" sz="7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</a:t>
            </a:r>
            <a:pPr indent="0" marL="0">
              <a:buNone/>
            </a:pPr>
            <a:r>
              <a:rPr lang="en-US" sz="75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year;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5669280" y="1481328"/>
            <a:ext cx="3017520" cy="2377440"/>
          </a:xfrm>
          <a:prstGeom prst="rect">
            <a:avLst/>
          </a:prstGeom>
          <a:solidFill>
            <a:srgbClr val="1A2238"/>
          </a:solidFill>
          <a:ln w="12700">
            <a:solidFill>
              <a:srgbClr val="2A3550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481328"/>
          <a:ext cx="3017520" cy="914400"/>
        </p:xfrm>
        <a:graphic>
          <a:graphicData uri="http://schemas.openxmlformats.org/drawingml/2006/table">
            <a:tbl>
              <a:tblPr/>
              <a:tblGrid>
                <a:gridCol w="754380"/>
                <a:gridCol w="754380"/>
                <a:gridCol w="754380"/>
                <a:gridCol w="7543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5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5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5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5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8C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2011*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8C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₹1.34M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8C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20,651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8C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8C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8C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₹2.12M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8C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32,521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C4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+57.9%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8C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8C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₹2.14M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8C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32,900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C4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8C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8C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₹2.09M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8C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32,226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8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8C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2015*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8C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₹0.44M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8C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6,671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8C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669280" y="3931920"/>
            <a:ext cx="3017520" cy="932688"/>
          </a:xfrm>
          <a:prstGeom prst="rect">
            <a:avLst/>
          </a:prstGeom>
          <a:solidFill>
            <a:srgbClr val="0A1A20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806440" y="397764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5806440" y="4187952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stable at ~₹2.1M/year (2012–2014). The 2011→2012 jump reflects partial-year 2011 data. No seasonal spikes observed — demand is consistent year-round.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5C1A"/>
          </a:solidFill>
          <a:ln w="12700">
            <a:solidFill>
              <a:srgbClr val="FF5C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371600" cy="256032"/>
          </a:xfrm>
          <a:prstGeom prst="rect">
            <a:avLst>
              <a:gd name="adj" fmla="val 14286"/>
            </a:avLst>
          </a:prstGeom>
          <a:solidFill>
            <a:srgbClr val="FF5C1A"/>
          </a:solidFill>
          <a:ln w="12700">
            <a:solidFill>
              <a:srgbClr val="FF5C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03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Segment Analysis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P0 (Premium) vs P2 (Standard) customer segments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481328"/>
          <a:ext cx="34747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4160520" y="1481328"/>
            <a:ext cx="2331720" cy="3401568"/>
          </a:xfrm>
          <a:prstGeom prst="rect">
            <a:avLst/>
          </a:prstGeom>
          <a:solidFill>
            <a:srgbClr val="1A2238"/>
          </a:solidFill>
          <a:ln w="12700">
            <a:solidFill>
              <a:srgbClr val="FF5C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160520" y="1481328"/>
            <a:ext cx="2331720" cy="45720"/>
          </a:xfrm>
          <a:prstGeom prst="rect">
            <a:avLst/>
          </a:prstGeom>
          <a:solidFill>
            <a:srgbClr val="FF5C1A"/>
          </a:solidFill>
          <a:ln w="12700">
            <a:solidFill>
              <a:srgbClr val="FF5C1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60520" y="15544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4160520" y="2029968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270248" y="2304288"/>
            <a:ext cx="2112264" cy="347472"/>
          </a:xfrm>
          <a:prstGeom prst="rect">
            <a:avLst/>
          </a:prstGeom>
          <a:solidFill>
            <a:srgbClr val="151E30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25112" y="236829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257800" y="236829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4,423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270248" y="2706624"/>
            <a:ext cx="2112264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25112" y="277063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Base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257800" y="277063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64.3%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270248" y="3108960"/>
            <a:ext cx="2112264" cy="347472"/>
          </a:xfrm>
          <a:prstGeom prst="rect">
            <a:avLst/>
          </a:prstGeom>
          <a:solidFill>
            <a:srgbClr val="151E30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325112" y="317296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257800" y="317296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₹6.50M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270248" y="3511296"/>
            <a:ext cx="2112264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325112" y="357530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%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257800" y="357530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80.0%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270248" y="3913632"/>
            <a:ext cx="2112264" cy="347472"/>
          </a:xfrm>
          <a:prstGeom prst="rect">
            <a:avLst/>
          </a:prstGeom>
          <a:solidFill>
            <a:srgbClr val="151E30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325112" y="397764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Txn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257800" y="397764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₹70.06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270248" y="4315968"/>
            <a:ext cx="2112264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325112" y="437997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Freq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257800" y="437997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18.5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6675120" y="1481328"/>
            <a:ext cx="2331720" cy="3401568"/>
          </a:xfrm>
          <a:prstGeom prst="rect">
            <a:avLst/>
          </a:prstGeom>
          <a:solidFill>
            <a:srgbClr val="1A2238"/>
          </a:solidFill>
          <a:ln w="12700">
            <a:solidFill>
              <a:srgbClr val="00C4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675120" y="1481328"/>
            <a:ext cx="2331720" cy="45720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675120" y="15544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2800" dirty="0"/>
          </a:p>
        </p:txBody>
      </p:sp>
      <p:sp>
        <p:nvSpPr>
          <p:cNvPr id="33" name="Text 30"/>
          <p:cNvSpPr/>
          <p:nvPr/>
        </p:nvSpPr>
        <p:spPr>
          <a:xfrm>
            <a:off x="6675120" y="2029968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6784848" y="2304288"/>
            <a:ext cx="2112264" cy="347472"/>
          </a:xfrm>
          <a:prstGeom prst="rect">
            <a:avLst/>
          </a:prstGeom>
          <a:solidFill>
            <a:srgbClr val="151E30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839712" y="236829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7772400" y="236829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2,461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6784848" y="2706624"/>
            <a:ext cx="2112264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839712" y="277063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Base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7772400" y="277063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35.7%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6784848" y="3108960"/>
            <a:ext cx="2112264" cy="347472"/>
          </a:xfrm>
          <a:prstGeom prst="rect">
            <a:avLst/>
          </a:prstGeom>
          <a:solidFill>
            <a:srgbClr val="151E30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839712" y="317296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772400" y="317296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₹1.62M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6784848" y="3511296"/>
            <a:ext cx="2112264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839712" y="357530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%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7772400" y="357530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20.0%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6784848" y="3913632"/>
            <a:ext cx="2112264" cy="347472"/>
          </a:xfrm>
          <a:prstGeom prst="rect">
            <a:avLst/>
          </a:prstGeom>
          <a:solidFill>
            <a:srgbClr val="151E30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839712" y="397764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Txn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7772400" y="397764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₹50.41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6784848" y="4315968"/>
            <a:ext cx="2112264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839712" y="437997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Freq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7772400" y="437997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17.6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457200" y="4297680"/>
            <a:ext cx="3474720" cy="594360"/>
          </a:xfrm>
          <a:prstGeom prst="rect">
            <a:avLst/>
          </a:prstGeom>
          <a:solidFill>
            <a:srgbClr val="080C12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94360" y="43434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cs.segment,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(DISTINCT </a:t>
            </a:r>
            <a:pPr indent="0" marL="0">
              <a:buNone/>
            </a:pPr>
            <a:r>
              <a:rPr lang="en-US" sz="72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t.customer_id) AS customers,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(t.tran_amount) </a:t>
            </a:r>
            <a:pPr indent="0" marL="0">
              <a:buNone/>
            </a:pPr>
            <a:r>
              <a:rPr lang="en-US" sz="72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pPr indent="0" marL="0">
              <a:buNone/>
            </a:pPr>
            <a:r>
              <a:rPr lang="en-US" sz="72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revenue,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AVG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(t.tran_amount) </a:t>
            </a:r>
            <a:pPr indent="0" marL="0">
              <a:buNone/>
            </a:pPr>
            <a:r>
              <a:rPr lang="en-US" sz="72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pPr indent="0" marL="0">
              <a:buNone/>
            </a:pPr>
            <a:r>
              <a:rPr lang="en-US" sz="72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avg_basket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transactions t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customer_segments cs
  ON t.customer_id = cs.customer_id
</a:t>
            </a:r>
            <a:pPr indent="0" marL="0">
              <a:buNone/>
            </a:pPr>
            <a:r>
              <a:rPr lang="en-US" sz="72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</a:t>
            </a:r>
            <a:pPr indent="0" marL="0">
              <a:buNone/>
            </a:pPr>
            <a:r>
              <a:rPr lang="en-US" sz="720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cs.segment;</a:t>
            </a:r>
            <a:endParaRPr lang="en-US" sz="7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5C1A"/>
          </a:solidFill>
          <a:ln w="12700">
            <a:solidFill>
              <a:srgbClr val="FF5C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371600" cy="256032"/>
          </a:xfrm>
          <a:prstGeom prst="rect">
            <a:avLst>
              <a:gd name="adj" fmla="val 14286"/>
            </a:avLst>
          </a:prstGeom>
          <a:solidFill>
            <a:srgbClr val="FF5C1A"/>
          </a:solidFill>
          <a:ln w="12700">
            <a:solidFill>
              <a:srgbClr val="FF5C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03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Distribution &amp; Campaign Response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do customers purchase, and how well do campaigns work?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481328"/>
          <a:ext cx="42062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4846320" y="1481328"/>
          <a:ext cx="384048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3840480"/>
            <a:ext cx="4206240" cy="987552"/>
          </a:xfrm>
          <a:prstGeom prst="rect">
            <a:avLst/>
          </a:prstGeom>
          <a:solidFill>
            <a:srgbClr val="080C12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94360" y="3895344"/>
            <a:ext cx="393192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frequency &lt;= 10 THEN '1-10'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frequency &lt;= 15 THEN '11-15'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frequency &lt;= 20 THEN '16-20'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frequency &lt;= 25 THEN '21-25'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'26+'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 AS freq_band,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COUNT(*) AS customers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customer_segments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freq_band ORDER BY freq_band;</a:t>
            </a:r>
            <a:endParaRPr lang="en-US" sz="720" dirty="0"/>
          </a:p>
        </p:txBody>
      </p:sp>
      <p:sp>
        <p:nvSpPr>
          <p:cNvPr id="11" name="Shape 7"/>
          <p:cNvSpPr/>
          <p:nvPr/>
        </p:nvSpPr>
        <p:spPr>
          <a:xfrm>
            <a:off x="4846320" y="3840480"/>
            <a:ext cx="3840480" cy="987552"/>
          </a:xfrm>
          <a:prstGeom prst="rect">
            <a:avLst/>
          </a:prstGeom>
          <a:solidFill>
            <a:srgbClr val="080C12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983480" y="3895344"/>
            <a:ext cx="356616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YEAR(trans_date) AS year,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ROUND(AVG(response)*100, 2) AS response_pct,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COUNT(*) AS total_txns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transactions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YEAR(trans_date)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year;</a:t>
            </a:r>
            <a:endParaRPr lang="en-US" sz="7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5C1A"/>
          </a:solidFill>
          <a:ln w="12700">
            <a:solidFill>
              <a:srgbClr val="FF5C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371600" cy="256032"/>
          </a:xfrm>
          <a:prstGeom prst="rect">
            <a:avLst>
              <a:gd name="adj" fmla="val 14286"/>
            </a:avLst>
          </a:prstGeom>
          <a:solidFill>
            <a:srgbClr val="FF5C1A"/>
          </a:solidFill>
          <a:ln w="12700">
            <a:solidFill>
              <a:srgbClr val="FF5C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03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Analysis &amp; Advanced SQL Queries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acquisition cohorts and complex analysis queries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481328"/>
          <a:ext cx="411480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749040"/>
            <a:ext cx="4114800" cy="1078992"/>
          </a:xfrm>
          <a:prstGeom prst="rect">
            <a:avLst/>
          </a:prstGeom>
          <a:solidFill>
            <a:srgbClr val="0A1020"/>
          </a:solidFill>
          <a:ln w="12700">
            <a:solidFill>
              <a:srgbClr val="9B8C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380390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8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Insight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94360" y="4041648"/>
            <a:ext cx="3840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94.4% of all customers made their first purchase in 2011. Acquisition has nearly stopped — only 386 new customers since 2012. This is the most critical growth risk for the business.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754880" y="1481328"/>
            <a:ext cx="3931920" cy="1115568"/>
          </a:xfrm>
          <a:prstGeom prst="rect">
            <a:avLst/>
          </a:prstGeom>
          <a:solidFill>
            <a:srgbClr val="1A22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92040" y="153619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— first purchase year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754880" y="1737360"/>
            <a:ext cx="3931920" cy="822960"/>
          </a:xfrm>
          <a:prstGeom prst="rect">
            <a:avLst/>
          </a:prstGeom>
          <a:solidFill>
            <a:srgbClr val="080C12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92040" y="1755648"/>
            <a:ext cx="36576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YEAR(MIN(trans_date)) AS cohort_year,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COUNT(DISTINCT customer_id) AS new_customers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transactions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customer_id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cohort_year IS NOT NULL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cohort_year;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4754880" y="2688336"/>
            <a:ext cx="3931920" cy="1115568"/>
          </a:xfrm>
          <a:prstGeom prst="rect">
            <a:avLst/>
          </a:prstGeom>
          <a:solidFill>
            <a:srgbClr val="1A22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92040" y="27432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customers by revenue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754880" y="2944368"/>
            <a:ext cx="3931920" cy="822960"/>
          </a:xfrm>
          <a:prstGeom prst="rect">
            <a:avLst/>
          </a:prstGeom>
          <a:solidFill>
            <a:srgbClr val="080C12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92040" y="2962656"/>
            <a:ext cx="36576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t.customer_id, cs.segment,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SUM(t.tran_amount) AS lifetime_value,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COUNT(*) AS total_txns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transactions t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customer_segments cs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t.customer_id = cs.customer_id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t.customer_id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lifetime_value DESC LIMIT 10;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4754880" y="3895344"/>
            <a:ext cx="3931920" cy="1115568"/>
          </a:xfrm>
          <a:prstGeom prst="rect">
            <a:avLst/>
          </a:prstGeom>
          <a:solidFill>
            <a:srgbClr val="1A22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92040" y="395020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754880" y="4151376"/>
            <a:ext cx="3931920" cy="822960"/>
          </a:xfrm>
          <a:prstGeom prst="rect">
            <a:avLst/>
          </a:prstGeom>
          <a:solidFill>
            <a:srgbClr val="080C12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92040" y="4169664"/>
            <a:ext cx="36576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month_year,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SUM(tran_amount)  AS revenue,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COUNT(*)           AS transactions,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AVG(tran_amount)  AS avg_basket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transactions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month_year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8B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month_year;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5C1A"/>
          </a:solidFill>
          <a:ln w="12700">
            <a:solidFill>
              <a:srgbClr val="FF5C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371600" cy="256032"/>
          </a:xfrm>
          <a:prstGeom prst="rect">
            <a:avLst>
              <a:gd name="adj" fmla="val 14286"/>
            </a:avLst>
          </a:prstGeom>
          <a:solidFill>
            <a:srgbClr val="FF5C1A"/>
          </a:solidFill>
          <a:ln w="12700">
            <a:solidFill>
              <a:srgbClr val="FF5C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04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Report — Annual Sales Summary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year-over-year performance metrics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1371600"/>
                <a:gridCol w="137160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(₹)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Basket (₹)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YoY Growth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2011 (partial)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C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1,340,013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C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20,651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C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C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2,115,542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32,521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C4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+57.9%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2,137,140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32,900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C4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2,094,508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32,226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C4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8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 (partial)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435,175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6,671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858768"/>
            <a:ext cx="1920240" cy="987552"/>
          </a:xfrm>
          <a:prstGeom prst="rect">
            <a:avLst/>
          </a:prstGeom>
          <a:solidFill>
            <a:srgbClr val="1A2238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3858768"/>
            <a:ext cx="1920240" cy="36576"/>
          </a:xfrm>
          <a:prstGeom prst="rect">
            <a:avLst/>
          </a:prstGeom>
          <a:solidFill>
            <a:srgbClr val="FF5C1A"/>
          </a:solidFill>
          <a:ln w="12700">
            <a:solidFill>
              <a:srgbClr val="FF5C1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396849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Full-Year Revenue</a:t>
            </a:r>
            <a:endParaRPr lang="en-US" sz="800" dirty="0"/>
          </a:p>
          <a:p>
            <a:pPr indent="0" marL="0">
              <a:buNone/>
            </a:pPr>
            <a:r>
              <a:rPr lang="en-US" sz="800" b="1" spc="100" kern="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2012–2014 Combined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94360" y="4151376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₹6.35M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2560320" y="3858768"/>
            <a:ext cx="1920240" cy="987552"/>
          </a:xfrm>
          <a:prstGeom prst="rect">
            <a:avLst/>
          </a:prstGeom>
          <a:solidFill>
            <a:srgbClr val="1A2238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60320" y="3858768"/>
            <a:ext cx="1920240" cy="36576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697480" y="396849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are</a:t>
            </a:r>
            <a:endParaRPr lang="en-US" sz="800" dirty="0"/>
          </a:p>
          <a:p>
            <a:pPr indent="0" marL="0">
              <a:buNone/>
            </a:pPr>
            <a:r>
              <a:rPr lang="en-US" sz="800" b="1" spc="100" kern="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Buyers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697480" y="4151376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4663440" y="3858768"/>
            <a:ext cx="1920240" cy="987552"/>
          </a:xfrm>
          <a:prstGeom prst="rect">
            <a:avLst/>
          </a:prstGeom>
          <a:solidFill>
            <a:srgbClr val="1A2238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63440" y="3858768"/>
            <a:ext cx="1920240" cy="36576"/>
          </a:xfrm>
          <a:prstGeom prst="rect">
            <a:avLst/>
          </a:prstGeom>
          <a:solidFill>
            <a:srgbClr val="9B8CE8"/>
          </a:solidFill>
          <a:ln w="12700">
            <a:solidFill>
              <a:srgbClr val="9B8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00600" y="396849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Rate Improvement</a:t>
            </a:r>
            <a:endParaRPr lang="en-US" sz="800" dirty="0"/>
          </a:p>
          <a:p>
            <a:pPr indent="0" marL="0">
              <a:buNone/>
            </a:pPr>
            <a:r>
              <a:rPr lang="en-US" sz="800" b="1" spc="100" kern="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 → 2014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800600" y="4151376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+28%</a:t>
            </a:r>
            <a:endParaRPr lang="en-US" sz="2600" dirty="0"/>
          </a:p>
        </p:txBody>
      </p:sp>
      <p:sp>
        <p:nvSpPr>
          <p:cNvPr id="20" name="Shape 17"/>
          <p:cNvSpPr/>
          <p:nvPr/>
        </p:nvSpPr>
        <p:spPr>
          <a:xfrm>
            <a:off x="6766560" y="3858768"/>
            <a:ext cx="1920240" cy="987552"/>
          </a:xfrm>
          <a:prstGeom prst="rect">
            <a:avLst/>
          </a:prstGeom>
          <a:solidFill>
            <a:srgbClr val="1A2238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766560" y="3858768"/>
            <a:ext cx="1920240" cy="36576"/>
          </a:xfrm>
          <a:prstGeom prst="rect">
            <a:avLst/>
          </a:prstGeom>
          <a:solidFill>
            <a:srgbClr val="FF8C4A"/>
          </a:solidFill>
          <a:ln w="12700">
            <a:solidFill>
              <a:srgbClr val="FF8C4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903720" y="396849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Purchase</a:t>
            </a:r>
            <a:endParaRPr lang="en-US" sz="800" dirty="0"/>
          </a:p>
          <a:p>
            <a:pPr indent="0" marL="0">
              <a:buNone/>
            </a:pPr>
            <a:r>
              <a:rPr lang="en-US" sz="800" b="1" spc="100" kern="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903720" y="4151376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18.2x</a:t>
            </a:r>
            <a:endParaRPr lang="en-US" sz="2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5C1A"/>
          </a:solidFill>
          <a:ln w="12700">
            <a:solidFill>
              <a:srgbClr val="FF5C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371600" cy="256032"/>
          </a:xfrm>
          <a:prstGeom prst="rect">
            <a:avLst>
              <a:gd name="adj" fmla="val 14286"/>
            </a:avLst>
          </a:prstGeom>
          <a:solidFill>
            <a:srgbClr val="FF5C1A"/>
          </a:solidFill>
          <a:ln w="12700">
            <a:solidFill>
              <a:srgbClr val="FF5C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04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Performance Report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RFM breakdown and P0 vs P2 comparison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481328"/>
          <a:ext cx="384048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1481328"/>
          <a:ext cx="4206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234440"/>
                <a:gridCol w="12344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5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5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 Premium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C4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 Standard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8C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8C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4,423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8C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2,461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8C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Base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8C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8C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8C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Revenue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8C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₹6.50M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8C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₹1.62M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8C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Share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8C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8C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8C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Transaction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8C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₹70.06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8C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₹50.41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8C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Frequency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8C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18.5x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8C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17.6x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8C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Monetary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8C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₹1,320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8C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₹890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9" name="Chart 1" descr=""/>
          <p:cNvGraphicFramePr/>
          <p:nvPr/>
        </p:nvGraphicFramePr>
        <p:xfrm>
          <a:off x="457200" y="4133088"/>
          <a:ext cx="3840480" cy="914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5"/>
          <p:cNvSpPr/>
          <p:nvPr/>
        </p:nvSpPr>
        <p:spPr>
          <a:xfrm>
            <a:off x="4480560" y="4133088"/>
            <a:ext cx="4206240" cy="914400"/>
          </a:xfrm>
          <a:prstGeom prst="rect">
            <a:avLst/>
          </a:prstGeom>
          <a:solidFill>
            <a:srgbClr val="0A1A12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4617720" y="418795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Insight</a:t>
            </a:r>
            <a:endParaRPr lang="en-US" sz="850" dirty="0"/>
          </a:p>
        </p:txBody>
      </p:sp>
      <p:sp>
        <p:nvSpPr>
          <p:cNvPr id="12" name="Text 7"/>
          <p:cNvSpPr/>
          <p:nvPr/>
        </p:nvSpPr>
        <p:spPr>
          <a:xfrm>
            <a:off x="4617720" y="4407408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customers spend 39% more per transaction on average (₹70 vs ₹50). A P2→P0 upgrade program targeting the top 500 P2 customers could unlock ₹200K+ in additional annual revenue.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5C1A"/>
          </a:solidFill>
          <a:ln w="12700">
            <a:solidFill>
              <a:srgbClr val="FF5C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371600" cy="256032"/>
          </a:xfrm>
          <a:prstGeom prst="rect">
            <a:avLst>
              <a:gd name="adj" fmla="val 14286"/>
            </a:avLst>
          </a:prstGeom>
          <a:solidFill>
            <a:srgbClr val="FF5C1A"/>
          </a:solidFill>
          <a:ln w="12700">
            <a:solidFill>
              <a:srgbClr val="FF5C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04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Journey Map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journey based on the transaction and RFM data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8229600" cy="640080"/>
          </a:xfrm>
          <a:prstGeom prst="rect">
            <a:avLst/>
          </a:prstGeom>
          <a:solidFill>
            <a:srgbClr val="1A22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81328"/>
            <a:ext cx="54864" cy="640080"/>
          </a:xfrm>
          <a:prstGeom prst="rect">
            <a:avLst/>
          </a:prstGeom>
          <a:solidFill>
            <a:srgbClr val="FF5C1A"/>
          </a:solidFill>
          <a:ln w="12700">
            <a:solidFill>
              <a:srgbClr val="FF5C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591056"/>
            <a:ext cx="914400" cy="420624"/>
          </a:xfrm>
          <a:prstGeom prst="rect">
            <a:avLst/>
          </a:prstGeom>
          <a:solidFill>
            <a:srgbClr val="FF5C1A">
              <a:alpha val="20000"/>
            </a:srgbClr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554480"/>
            <a:ext cx="914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572768" y="1554480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purchase made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767328" y="1554480"/>
            <a:ext cx="2560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6,498 customers acquired in 2011 alone (94.4%)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6419088" y="1554480"/>
            <a:ext cx="2194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Reactivate acquisition — only 386 new customers since 2012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57200" y="2194560"/>
            <a:ext cx="8229600" cy="640080"/>
          </a:xfrm>
          <a:prstGeom prst="rect">
            <a:avLst/>
          </a:prstGeom>
          <a:solidFill>
            <a:srgbClr val="151C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194560"/>
            <a:ext cx="54864" cy="640080"/>
          </a:xfrm>
          <a:prstGeom prst="rect">
            <a:avLst/>
          </a:prstGeom>
          <a:solidFill>
            <a:srgbClr val="FF8C4A"/>
          </a:solidFill>
          <a:ln w="12700">
            <a:solidFill>
              <a:srgbClr val="FF8C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2304288"/>
            <a:ext cx="914400" cy="420624"/>
          </a:xfrm>
          <a:prstGeom prst="rect">
            <a:avLst/>
          </a:prstGeom>
          <a:solidFill>
            <a:srgbClr val="FF8C4A">
              <a:alpha val="20000"/>
            </a:srgbClr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267712"/>
            <a:ext cx="914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8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8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572768" y="2267712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purchasing begins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767328" y="2267712"/>
            <a:ext cx="2560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All 6,884 customers are repeat buyers. Avg 18.2 purchases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6419088" y="2267712"/>
            <a:ext cx="2194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8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100% repeat rate is exceptional. Maintain via loyalty programs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57200" y="2907792"/>
            <a:ext cx="8229600" cy="640080"/>
          </a:xfrm>
          <a:prstGeom prst="rect">
            <a:avLst/>
          </a:prstGeom>
          <a:solidFill>
            <a:srgbClr val="1A22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907792"/>
            <a:ext cx="54864" cy="640080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3017520"/>
            <a:ext cx="914400" cy="420624"/>
          </a:xfrm>
          <a:prstGeom prst="rect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2980944"/>
            <a:ext cx="914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572768" y="2980944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scoring applied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767328" y="2980944"/>
            <a:ext cx="2560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P0: 64% of customers driving 80% of revenue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6419088" y="2980944"/>
            <a:ext cx="2194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Focus upsell campaigns on P2 → P0 migration path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" y="3621024"/>
            <a:ext cx="8229600" cy="640080"/>
          </a:xfrm>
          <a:prstGeom prst="rect">
            <a:avLst/>
          </a:prstGeom>
          <a:solidFill>
            <a:srgbClr val="151C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621024"/>
            <a:ext cx="54864" cy="640080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" y="3730752"/>
            <a:ext cx="914400" cy="420624"/>
          </a:xfrm>
          <a:prstGeom prst="rect">
            <a:avLst/>
          </a:prstGeom>
          <a:solidFill>
            <a:srgbClr val="00C4A7">
              <a:alpha val="20000"/>
            </a:srgbClr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3694176"/>
            <a:ext cx="914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RESPONSE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572768" y="3694176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responds to campaigns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767328" y="3694176"/>
            <a:ext cx="2560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Response rate grew 9.8% → 12.6% (2011–2014, +28%)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6419088" y="3694176"/>
            <a:ext cx="2194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Scale campaigns. Test personalised segment-based offers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57200" y="4334256"/>
            <a:ext cx="8229600" cy="640080"/>
          </a:xfrm>
          <a:prstGeom prst="rect">
            <a:avLst/>
          </a:prstGeom>
          <a:solidFill>
            <a:srgbClr val="1A22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4334256"/>
            <a:ext cx="54864" cy="640080"/>
          </a:xfrm>
          <a:prstGeom prst="rect">
            <a:avLst/>
          </a:prstGeom>
          <a:solidFill>
            <a:srgbClr val="9B8CE8"/>
          </a:solidFill>
          <a:ln w="12700">
            <a:solidFill>
              <a:srgbClr val="9B8C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443984"/>
            <a:ext cx="914400" cy="420624"/>
          </a:xfrm>
          <a:prstGeom prst="rect">
            <a:avLst/>
          </a:prstGeom>
          <a:solidFill>
            <a:srgbClr val="9B8CE8">
              <a:alpha val="20000"/>
            </a:srgbClr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4407408"/>
            <a:ext cx="914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B8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9B8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1572768" y="4407408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retained buyer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767328" y="4407408"/>
            <a:ext cx="2560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Avg monetary value ₹1,180. Stable ₹2.1M/year revenue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6419088" y="4407408"/>
            <a:ext cx="2194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Introduce premium tier rewards for top P0 (freq 26+) customers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57200" y="1481328"/>
            <a:ext cx="8229600" cy="0"/>
          </a:xfrm>
          <a:prstGeom prst="rect">
            <a:avLst/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" y="138988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572768" y="1389888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Action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767328" y="138988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Signal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419088" y="138988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5C1A"/>
          </a:solidFill>
          <a:ln w="12700">
            <a:solidFill>
              <a:srgbClr val="FF5C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371600" cy="256032"/>
          </a:xfrm>
          <a:prstGeom prst="rect">
            <a:avLst>
              <a:gd name="adj" fmla="val 14286"/>
            </a:avLst>
          </a:prstGeom>
          <a:solidFill>
            <a:srgbClr val="FF5C1A"/>
          </a:solidFill>
          <a:ln w="12700">
            <a:solidFill>
              <a:srgbClr val="FF5C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04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Recommendations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insights derived from the full analysis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4114800" cy="1143000"/>
          </a:xfrm>
          <a:prstGeom prst="rect">
            <a:avLst/>
          </a:prstGeom>
          <a:solidFill>
            <a:srgbClr val="1A2238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81328"/>
            <a:ext cx="54864" cy="1143000"/>
          </a:xfrm>
          <a:prstGeom prst="rect">
            <a:avLst/>
          </a:prstGeom>
          <a:solidFill>
            <a:srgbClr val="FF5C1A"/>
          </a:solidFill>
          <a:ln w="12700">
            <a:solidFill>
              <a:srgbClr val="FF5C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81328"/>
            <a:ext cx="4114800" cy="45720"/>
          </a:xfrm>
          <a:prstGeom prst="rect">
            <a:avLst/>
          </a:prstGeom>
          <a:solidFill>
            <a:srgbClr val="FF5C1A"/>
          </a:solidFill>
          <a:ln w="12700">
            <a:solidFill>
              <a:srgbClr val="FF5C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" y="15727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78992" y="157276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Stability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85216" y="1865376"/>
            <a:ext cx="3858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 is locked at ~₹2.1M (2012–2014) with virtually no seasonal variation. This reflects a mature, loyal base. Future growth must come from new customer acquisition, not higher per-customer spend.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585216" y="2322576"/>
            <a:ext cx="3858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Launch targeted acquisition campaigns in untapped channels.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800600" y="1481328"/>
            <a:ext cx="4114800" cy="1143000"/>
          </a:xfrm>
          <a:prstGeom prst="rect">
            <a:avLst/>
          </a:prstGeom>
          <a:solidFill>
            <a:srgbClr val="1A2238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1481328"/>
            <a:ext cx="54864" cy="1143000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1481328"/>
            <a:ext cx="4114800" cy="45720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28616" y="15727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22392" y="157276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Segment Dominance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28616" y="1865376"/>
            <a:ext cx="3858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Premium customers (64% of base) generate 80% of total revenue. Their avg. transaction (₹70) is 39% higher than P2 (₹50). A focused P2→P0 migration program could unlock ₹200K+ in additional annual revenue.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4928616" y="2322576"/>
            <a:ext cx="3858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Identify top P2 customers by frequency and upsell to Premium.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57200" y="2715768"/>
            <a:ext cx="4114800" cy="1143000"/>
          </a:xfrm>
          <a:prstGeom prst="rect">
            <a:avLst/>
          </a:prstGeom>
          <a:solidFill>
            <a:srgbClr val="1A2238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715768"/>
            <a:ext cx="54864" cy="1143000"/>
          </a:xfrm>
          <a:prstGeom prst="rect">
            <a:avLst/>
          </a:prstGeom>
          <a:solidFill>
            <a:srgbClr val="9B8CE8"/>
          </a:solidFill>
          <a:ln w="12700">
            <a:solidFill>
              <a:srgbClr val="9B8C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715768"/>
            <a:ext cx="4114800" cy="45720"/>
          </a:xfrm>
          <a:prstGeom prst="rect">
            <a:avLst/>
          </a:prstGeom>
          <a:solidFill>
            <a:srgbClr val="9B8CE8"/>
          </a:solidFill>
          <a:ln w="12700">
            <a:solidFill>
              <a:srgbClr val="9B8C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" y="28072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8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78992" y="280720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Exceptional Retention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5216" y="3099816"/>
            <a:ext cx="3858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6,884 customers are repeat buyers — this is extraordinary for a retail chain. No one-time purchasers exist in the dataset, suggesting strong product-market fit and customer satisfaction.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585216" y="3557016"/>
            <a:ext cx="3858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B8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Protect this retention through loyalty rewards and early churn alerts.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800600" y="2715768"/>
            <a:ext cx="4114800" cy="1143000"/>
          </a:xfrm>
          <a:prstGeom prst="rect">
            <a:avLst/>
          </a:prstGeom>
          <a:solidFill>
            <a:srgbClr val="1A2238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0600" y="2715768"/>
            <a:ext cx="54864" cy="1143000"/>
          </a:xfrm>
          <a:prstGeom prst="rect">
            <a:avLst/>
          </a:prstGeom>
          <a:solidFill>
            <a:srgbClr val="FF8C4A"/>
          </a:solidFill>
          <a:ln w="12700">
            <a:solidFill>
              <a:srgbClr val="FF8C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2715768"/>
            <a:ext cx="4114800" cy="45720"/>
          </a:xfrm>
          <a:prstGeom prst="rect">
            <a:avLst/>
          </a:prstGeom>
          <a:solidFill>
            <a:srgbClr val="FF8C4A"/>
          </a:solidFill>
          <a:ln w="12700">
            <a:solidFill>
              <a:srgbClr val="FF8C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28616" y="28072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22392" y="280720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Cliff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28616" y="3099816"/>
            <a:ext cx="3858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94.4% of customers first purchased in 2011. Only 386 new customers have joined since 2012 (374 in 2012, 12 in 2013). Without a new acquisition engine, the customer base will shrink as existing customers age out.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4928616" y="3557016"/>
            <a:ext cx="3858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8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Set an aggressive acquisition target of 500+ new customers in 2015.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57200" y="3950208"/>
            <a:ext cx="4114800" cy="1143000"/>
          </a:xfrm>
          <a:prstGeom prst="rect">
            <a:avLst/>
          </a:prstGeom>
          <a:solidFill>
            <a:srgbClr val="1A2238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" y="3950208"/>
            <a:ext cx="54864" cy="1143000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3950208"/>
            <a:ext cx="4114800" cy="45720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5216" y="40416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078992" y="404164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Campaign ROI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85216" y="4334256"/>
            <a:ext cx="3858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response rate has grown from 9.8% (2011) to 12.6% (2014) — a 28% improvement over 4 years. Current rates are still below industry averages for personalised retail campaigns (15–25%).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585216" y="4791456"/>
            <a:ext cx="3858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Segment campaigns by P0/P2 and frequency band to boost response to 18%+.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800600" y="3950208"/>
            <a:ext cx="4114800" cy="1143000"/>
          </a:xfrm>
          <a:prstGeom prst="rect">
            <a:avLst/>
          </a:prstGeom>
          <a:solidFill>
            <a:srgbClr val="1A2238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800600" y="3950208"/>
            <a:ext cx="54864" cy="1143000"/>
          </a:xfrm>
          <a:prstGeom prst="rect">
            <a:avLst/>
          </a:prstGeom>
          <a:solidFill>
            <a:srgbClr val="9B8CE8"/>
          </a:solidFill>
          <a:ln w="12700">
            <a:solidFill>
              <a:srgbClr val="9B8CE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00600" y="3950208"/>
            <a:ext cx="4114800" cy="45720"/>
          </a:xfrm>
          <a:prstGeom prst="rect">
            <a:avLst/>
          </a:prstGeom>
          <a:solidFill>
            <a:srgbClr val="9B8CE8"/>
          </a:solidFill>
          <a:ln w="12700">
            <a:solidFill>
              <a:srgbClr val="9B8C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28616" y="40416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8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422392" y="404164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Purchase Frequency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928616" y="4334256"/>
            <a:ext cx="3858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customer buys 18.2 times. 70% of customers fall in the 11–25 purchase band. Only 561 customers (8%) are in the ultra-loyal 26+ bracket — a strong upsell and VIP program opportunity.</a:t>
            </a:r>
            <a:endParaRPr lang="en-US" sz="780" dirty="0"/>
          </a:p>
        </p:txBody>
      </p:sp>
      <p:sp>
        <p:nvSpPr>
          <p:cNvPr id="48" name="Text 46"/>
          <p:cNvSpPr/>
          <p:nvPr/>
        </p:nvSpPr>
        <p:spPr>
          <a:xfrm>
            <a:off x="4928616" y="4791456"/>
            <a:ext cx="3858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B8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Create a VIP tier for 26+ buyers with exclusive benefits.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FF5C1A"/>
          </a:solidFill>
          <a:ln w="12700">
            <a:solidFill>
              <a:srgbClr val="FF5C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2926080"/>
            <a:ext cx="3200400" cy="3200400"/>
          </a:xfrm>
          <a:prstGeom prst="ellipse">
            <a:avLst/>
          </a:prstGeom>
          <a:solidFill>
            <a:srgbClr val="FF8C4A">
              <a:alpha val="30000"/>
            </a:srgbClr>
          </a:solidFill>
          <a:ln w="12700">
            <a:solidFill>
              <a:srgbClr val="FF8C4A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4480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www.internshipstudio.com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40480" y="10972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840480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Data Analysis &amp; Reporting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0" y="22860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124,969 transactions analysed across 2011–2015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40480" y="263347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SQL schema designed, data loaded &amp; cleaned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0480" y="298094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Zero nulls, zero duplicates, zero outliers found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0" y="332841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RFM segmentation: P0 Premium vs P2 Standard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40480" y="367588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Revenue stable at ₹2.1M/year (full years)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40480" y="402336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100% customer retention — all repeat buyers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0" y="437083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6 key findings with actionable recommendations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40480" y="46634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Studio  ·  Final Project  ·  Python · SQL · Excel · Pandas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Chain – Sales Data Analysis</dc:title>
  <dc:subject>PptxGenJS Presentation</dc:subject>
  <dc:creator>Internship Studio</dc:creator>
  <cp:lastModifiedBy>Internship Studio</cp:lastModifiedBy>
  <cp:revision>1</cp:revision>
  <dcterms:created xsi:type="dcterms:W3CDTF">2026-03-01T08:14:34Z</dcterms:created>
  <dcterms:modified xsi:type="dcterms:W3CDTF">2026-03-01T08:14:34Z</dcterms:modified>
</cp:coreProperties>
</file>